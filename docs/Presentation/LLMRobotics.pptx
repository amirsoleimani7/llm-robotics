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281A-D090-4C2A-8FBE-1016C69228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6E0F6-459F-49CE-8475-04785636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4D3D9-8499-4CFB-B601-8A5DF0D327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384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9020F-E081-1146-FA70-DE0622B3F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A827D-317A-8248-7A34-B64014F2F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AA265-07E7-E074-A782-837CC4DA3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1A11-4CB2-458B-8748-1125837BE8C1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624D7-E391-41DB-8CDE-232F2ACC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4CB9-B998-AAE4-140E-C4786D78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6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B2A2-81BC-F2EE-A276-D335D2E7C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4055F-7946-A4D1-C0DA-6BF60BBE2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29383-CC9F-6077-91BF-7CD93902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7F61-35E2-46A7-9F1C-4B2AFD633C9E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BE3B-921E-D168-49E3-E1AC010E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B99EC-FE27-8EED-3EBE-9F08BF59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3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64E7-53A1-492B-755A-FE9A9D39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6E9C1-7403-F41A-21E9-4741D6A52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E1165-DDB6-C321-376B-77CCE017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BC21-DFB2-46F7-B27D-543806BD6EC6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4F59E-DD1F-320C-70AE-FC3ED345E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FB950-BB0A-3F35-735C-3AF0F3DB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0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78DB-6D67-D988-9047-F3C8EF90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86A3-540D-EBEE-DD06-EFA4FC212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26C3C-6CFD-0373-8D2F-221BA943E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2F7FF-B855-828A-E780-4E4DC984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8E4F-14AD-43CF-B550-2744FFBF9039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9836A-7D1C-526B-36E8-5861E6E1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BDEE0-0C7E-69D1-0686-C45097FF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49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7F145-DD9F-D1E3-B92F-E394DFD3C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462F-8859-74E5-38E0-CB43755F3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CEB3D-BC18-243E-FEEA-DA24616CA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7268AA-AE99-45FC-AD87-EC654750B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DDFB-B06F-41CF-2C5B-E0A9806AF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3B36F5-81EA-41D4-93DE-B36483C82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D3DB4-DC54-497F-899F-DEDCEF8010F6}" type="datetime1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CA60D-6C9B-D5A0-FB89-942AA36EE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26697-AB18-A862-F065-4FE73156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4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0C16-F587-ED6E-FB79-5F192A2E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F0A640-F5C6-4FA9-671F-495B2711A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F5D90-4CF2-41C8-8D4A-EE2550DC1EAB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C54B1-64E7-22BF-A51E-E8306B22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86A47-D86C-CB8D-4B89-FDD00C4F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11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70A876-0DBA-7AC7-FBC5-39525976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0945-A788-43D9-A90C-21E712EAB0C7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C9D13-884F-9C8D-23EE-DF9631BF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82799-295D-EC9D-340A-4DE061DA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0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E73-4423-F6A4-566A-DA5BE08A6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C4C21-4810-0143-E861-1316860C2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39977-285F-7D32-E269-95B6551B1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BCEAA-75E0-4CDA-0AD8-5C981207C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F46B-4C41-41CB-A7A7-E2B8DE284F89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42A1C-3F0E-7F0B-A64E-A468A553E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8AD4C-1365-7AB6-0E0C-1607801B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9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C022-49D0-B8D5-3434-BB6940DB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A0698-3003-E826-43AE-E845BA2E5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1C7C3-C7AE-4133-C224-61CD9A620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19A96-EA86-9B69-225A-BEB5458A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344A3-1304-4BD8-8EB9-852A17A24494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79758-8069-DDDF-550D-CD85B5F9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578BE-D9DA-03B8-F07C-5267F7E1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1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15D0-2B9A-FD1F-14C4-ECD3D0B9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91BFF-246E-3EB1-30E0-759D9A33E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4334-C724-B0B2-8E12-B35C0179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5EFE8-A02B-4735-8A58-7761E4D2B6F0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4B4B2-E1A4-9530-0C65-22E30C23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21ABF-5D78-9FE0-ED9E-D0331CD7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16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CA1628-7DAF-9860-B049-DBAD9A013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FDAC6-6E97-6FDB-3955-D373F9152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95CD3-D437-6086-708D-4580606D3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30C7-FFD1-4C1A-940B-33FF12137638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38CF0-3915-2065-0C07-6A9B3977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0E2BA-2768-9A39-BCEF-C1011922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8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5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C7852-76B5-C7AD-57CE-0CE1D5A7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91ACA-196B-B35A-EDBB-13AEF7375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86960-4894-4219-60F6-6324B7134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D53C3-B8C1-49C1-9043-E92B6C24960A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4EB2C-17D7-648E-07B6-A3B73EEB8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25017-BF12-D30E-7AF8-08C50C840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6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933-8C47-128E-F547-824BA7C5893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12341" y="857530"/>
            <a:ext cx="8967320" cy="1767053"/>
          </a:xfrm>
        </p:spPr>
        <p:txBody>
          <a:bodyPr>
            <a:noAutofit/>
          </a:bodyPr>
          <a:lstStyle/>
          <a:p>
            <a:pPr algn="r" rtl="1"/>
            <a:r>
              <a:rPr lang="fa-IR" sz="4000" dirty="0">
                <a:cs typeface="B Titr" panose="00000700000000000000" pitchFamily="2" charset="-78"/>
              </a:rPr>
              <a:t>استفاده از مدل‌های زبانی بزرگ در رباتیک</a:t>
            </a:r>
            <a:br>
              <a:rPr lang="fa-IR" sz="4000" dirty="0">
                <a:cs typeface="B Titr" panose="00000700000000000000" pitchFamily="2" charset="-78"/>
              </a:rPr>
            </a:br>
            <a:r>
              <a:rPr lang="fa-IR" sz="3600" dirty="0">
                <a:cs typeface="B Titr" panose="00000700000000000000" pitchFamily="2" charset="-78"/>
              </a:rPr>
              <a:t>ویژه صنعت فولاد</a:t>
            </a:r>
            <a:endParaRPr lang="en-US" sz="3600" dirty="0">
              <a:latin typeface="Times New Roman" panose="02020603050405020304" pitchFamily="18" charset="0"/>
              <a:cs typeface="B Titr" panose="000007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1F3FA-A572-3929-2CAB-B6837B6299F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878618" y="3293448"/>
            <a:ext cx="2701042" cy="1406835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fa-IR" b="1" dirty="0">
                <a:cs typeface="B Nazanin" panose="00000400000000000000" pitchFamily="2" charset="-78"/>
              </a:rPr>
              <a:t>ارائه دهندگان: </a:t>
            </a:r>
            <a:endParaRPr lang="en-US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b="1" dirty="0">
                <a:cs typeface="B Nazanin" panose="00000400000000000000" pitchFamily="2" charset="-78"/>
              </a:rPr>
              <a:t>محمد مهدی اسدی</a:t>
            </a:r>
          </a:p>
          <a:p>
            <a:pPr marL="0" indent="0" algn="r" rtl="1">
              <a:buNone/>
            </a:pPr>
            <a:r>
              <a:rPr lang="fa-IR" b="1" dirty="0">
                <a:cs typeface="B Nazanin" panose="00000400000000000000" pitchFamily="2" charset="-78"/>
              </a:rPr>
              <a:t>امیر حسین سلیمانی</a:t>
            </a:r>
            <a:endParaRPr lang="en-US" b="1" dirty="0">
              <a:cs typeface="B Nazanin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DA19F-E4C4-B6F3-FA4C-3D1034D28815}"/>
              </a:ext>
            </a:extLst>
          </p:cNvPr>
          <p:cNvSpPr txBox="1"/>
          <p:nvPr/>
        </p:nvSpPr>
        <p:spPr>
          <a:xfrm>
            <a:off x="9051636" y="5630838"/>
            <a:ext cx="152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۱۴۰۴/۱۲/۱۰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15CC044-A6FC-9115-7565-596F3CDF5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2340" y="4706358"/>
            <a:ext cx="1293813" cy="12938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804F0-D573-56A6-74D3-38E1AA4C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Picture 7" descr="A group of black circles&#10;&#10;AI-generated content may be incorrect.">
            <a:extLst>
              <a:ext uri="{FF2B5EF4-FFF2-40B4-BE49-F238E27FC236}">
                <a16:creationId xmlns:a16="http://schemas.microsoft.com/office/drawing/2014/main" id="{296D8A0C-54FA-6539-43F8-528A04FFA4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693" y="4904344"/>
            <a:ext cx="1902203" cy="89784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AACAA258-C7CF-A8E2-28C0-E03BB5490A68}"/>
              </a:ext>
            </a:extLst>
          </p:cNvPr>
          <p:cNvSpPr txBox="1">
            <a:spLocks/>
          </p:cNvSpPr>
          <p:nvPr/>
        </p:nvSpPr>
        <p:spPr>
          <a:xfrm>
            <a:off x="1567462" y="3293448"/>
            <a:ext cx="2549949" cy="1406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Font typeface="Arial" panose="020B0604020202020204" pitchFamily="34" charset="0"/>
              <a:buNone/>
            </a:pPr>
            <a:r>
              <a:rPr lang="fa-IR" b="1" dirty="0">
                <a:cs typeface="B Nazanin" panose="00000400000000000000" pitchFamily="2" charset="-78"/>
              </a:rPr>
              <a:t>استاد راهبر: </a:t>
            </a:r>
            <a:endParaRPr lang="en-US" b="1" dirty="0">
              <a:cs typeface="B Nazanin" panose="00000400000000000000" pitchFamily="2" charset="-78"/>
            </a:endParaRP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fa-IR" b="1" dirty="0">
                <a:cs typeface="B Nazanin" panose="00000400000000000000" pitchFamily="2" charset="-78"/>
              </a:rPr>
              <a:t>دکتر مازیار پالهنگ</a:t>
            </a:r>
          </a:p>
        </p:txBody>
      </p:sp>
    </p:spTree>
    <p:extLst>
      <p:ext uri="{BB962C8B-B14F-4D97-AF65-F5344CB8AC3E}">
        <p14:creationId xmlns:p14="http://schemas.microsoft.com/office/powerpoint/2010/main" val="150782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3915064" y="516528"/>
            <a:ext cx="4361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چرا فولاد؟ چرا الان؟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1108364" y="1616364"/>
            <a:ext cx="1005147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محیط سخت و پرریسک: حرارت بالا، گردوغبار، ارتعاش، خطر انسانی تصمیم‌های اپراتوری: بخشی «دانش ضمنی»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نیاز: کاهش توقف خط + افزایش ایمنی + کیفیت پایدار</a:t>
            </a:r>
          </a:p>
        </p:txBody>
      </p:sp>
    </p:spTree>
    <p:extLst>
      <p:ext uri="{BB962C8B-B14F-4D97-AF65-F5344CB8AC3E}">
        <p14:creationId xmlns:p14="http://schemas.microsoft.com/office/powerpoint/2010/main" val="337641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2670546" y="636701"/>
            <a:ext cx="6927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رباتیک کلاسیک چه محدودیتی دارد؟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1108364" y="1616364"/>
            <a:ext cx="1005147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برنامه‌نویسی صریح و سناریوهای از پیش تعریف‌شده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شکنندگی در شرایط غیرمنتظره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تعامل انسان–ربات بیشتر شبیه «کدنویسی</a:t>
            </a:r>
            <a:r>
              <a:rPr lang="fa-IR" sz="3200" b="1" dirty="0">
                <a:solidFill>
                  <a:prstClr val="black"/>
                </a:solidFill>
                <a:latin typeface="Aptos" panose="02110004020202020204"/>
                <a:cs typeface="B Nazanin" panose="00000400000000000000" pitchFamily="2" charset="-78"/>
              </a:rPr>
              <a:t>»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 است تا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 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«گفت‌وگو</a:t>
            </a:r>
            <a:r>
              <a:rPr lang="fa-IR" sz="3200" b="1" dirty="0">
                <a:solidFill>
                  <a:prstClr val="black"/>
                </a:solidFill>
                <a:latin typeface="Aptos" panose="02110004020202020204"/>
                <a:cs typeface="B Nazanin" panose="00000400000000000000" pitchFamily="2" charset="-78"/>
              </a:rPr>
              <a:t>»</a:t>
            </a:r>
            <a:endParaRPr kumimoji="0" lang="fa-IR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2522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2670546" y="636701"/>
            <a:ext cx="6927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LLM</a:t>
            </a:r>
            <a:r>
              <a:rPr kumimoji="0" lang="fa-IR" sz="40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 چیست؟ (خیلی ساده)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1108364" y="1616364"/>
            <a:ext cx="1005147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LLM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 = مدل یادگرفته از حجم عظیم متن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توانایی: فهم زبان، استدلال سطح بالا، تولید برنامه‌ی مرحله‌ای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«کنترل موتور/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PLC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» نیست؛ «مغز تصمیم‌یار</a:t>
            </a:r>
            <a:r>
              <a:rPr lang="fa-IR" sz="3200" b="1" dirty="0">
                <a:solidFill>
                  <a:prstClr val="black"/>
                </a:solidFill>
                <a:latin typeface="Aptos" panose="02110004020202020204"/>
                <a:cs typeface="B Nazanin" panose="00000400000000000000" pitchFamily="2" charset="-78"/>
              </a:rPr>
              <a:t>»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 است</a:t>
            </a: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6782C4C6-BAA1-E3A6-18E6-EEF7BD694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8892" y="7399764"/>
            <a:ext cx="4788066" cy="32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649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2670546" y="636701"/>
            <a:ext cx="6927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LLM</a:t>
            </a:r>
            <a:r>
              <a:rPr kumimoji="0" lang="fa-IR" sz="40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 چیست؟ (خیلی ساده)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5820229" y="1616364"/>
            <a:ext cx="533960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ورودی‌ها: متن / صدا / تصویر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LLM</a:t>
            </a: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: استدلال + برنامه‌ریزی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خروجی: انتخاب عمل + استفاده از ابزارها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حافظه کوتاه‌مدت و بلندمدت برای استمرار تصمیم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9BAB8-8D2C-B6DA-C93C-5DFC3A0EAADD}"/>
              </a:ext>
            </a:extLst>
          </p:cNvPr>
          <p:cNvSpPr txBox="1"/>
          <p:nvPr/>
        </p:nvSpPr>
        <p:spPr>
          <a:xfrm>
            <a:off x="1032164" y="4875767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Photos </a:t>
            </a: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ptos" panose="02110004020202020204"/>
              </a:rPr>
              <a:t>from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Report</a:t>
            </a: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ECD9E158-E01E-DEFC-7A84-CCC68C8EB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4" y="1588900"/>
            <a:ext cx="4788066" cy="32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00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2530661" y="652090"/>
            <a:ext cx="7130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تغییر پارادایم: از دستور صریح به «نیت</a:t>
            </a:r>
            <a:r>
              <a:rPr lang="fa-IR" sz="4000" b="1" dirty="0">
                <a:solidFill>
                  <a:srgbClr val="34495E"/>
                </a:solidFill>
                <a:latin typeface="Aptos" panose="02110004020202020204"/>
                <a:cs typeface="B Titr" panose="00000700000000000000" pitchFamily="2" charset="-78"/>
              </a:rPr>
              <a:t>»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1187117" y="1616364"/>
            <a:ext cx="997272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ربات قدیمی: «کدام دکمه/کدام تابع؟»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ربات جدید: «هدف چیست؟»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نتیجه: افزایش خودمختاری و کاهش نیاز به برنامه‌نویسی جزئی</a:t>
            </a: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ECD9E158-E01E-DEFC-7A84-CCC68C8EB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95557">
            <a:off x="-5398133" y="-3118528"/>
            <a:ext cx="4788066" cy="3273386"/>
          </a:xfrm>
          <a:prstGeom prst="rect">
            <a:avLst/>
          </a:prstGeom>
        </p:spPr>
      </p:pic>
      <p:pic>
        <p:nvPicPr>
          <p:cNvPr id="8" name="Picture 7" descr="A robot pouring fruit into a counter&#10;&#10;AI-generated content may be incorrect.">
            <a:extLst>
              <a:ext uri="{FF2B5EF4-FFF2-40B4-BE49-F238E27FC236}">
                <a16:creationId xmlns:a16="http://schemas.microsoft.com/office/drawing/2014/main" id="{C19E8978-312A-1253-0450-B0AB5F7AB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5264">
            <a:off x="-4688084" y="6858000"/>
            <a:ext cx="4078017" cy="34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33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1682184" y="652090"/>
            <a:ext cx="8795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SayCan</a:t>
            </a: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: از دستور سطح بالا به اقدامات واقعی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5110181" y="1616364"/>
            <a:ext cx="6049655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دریافت دستور طبیعی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شکستن به زیرکارها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انتخاب مهارت‌های قابل اجرا (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Skill Library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)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اجرا با بررسی امکان‌پذیری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9BAB8-8D2C-B6DA-C93C-5DFC3A0EAADD}"/>
              </a:ext>
            </a:extLst>
          </p:cNvPr>
          <p:cNvSpPr txBox="1"/>
          <p:nvPr/>
        </p:nvSpPr>
        <p:spPr>
          <a:xfrm>
            <a:off x="1032164" y="5041900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Photos </a:t>
            </a: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ptos" panose="02110004020202020204"/>
              </a:rPr>
              <a:t>from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Report</a:t>
            </a:r>
          </a:p>
        </p:txBody>
      </p:sp>
      <p:pic>
        <p:nvPicPr>
          <p:cNvPr id="11" name="Picture 10" descr="A robot pouring fruit into a counter&#10;&#10;AI-generated content may be incorrect.">
            <a:extLst>
              <a:ext uri="{FF2B5EF4-FFF2-40B4-BE49-F238E27FC236}">
                <a16:creationId xmlns:a16="http://schemas.microsoft.com/office/drawing/2014/main" id="{8E0B1F35-7464-5FAD-4E20-2AC53DC16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4" y="1616364"/>
            <a:ext cx="4078017" cy="3425536"/>
          </a:xfrm>
          <a:prstGeom prst="rect">
            <a:avLst/>
          </a:prstGeom>
        </p:spPr>
      </p:pic>
      <p:pic>
        <p:nvPicPr>
          <p:cNvPr id="12" name="Picture 11" descr="A diagram of a program&#10;&#10;AI-generated content may be incorrect.">
            <a:extLst>
              <a:ext uri="{FF2B5EF4-FFF2-40B4-BE49-F238E27FC236}">
                <a16:creationId xmlns:a16="http://schemas.microsoft.com/office/drawing/2014/main" id="{5CD0F7F8-9CBA-06AA-4A9D-11848A462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0110">
            <a:off x="-4968586" y="-4265332"/>
            <a:ext cx="4968586" cy="375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85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1682184" y="652090"/>
            <a:ext cx="8795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برنامه‌ریزی مرحله‌ای با مدل چندوجهی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5110181" y="1616364"/>
            <a:ext cx="6049655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ورودی: تصویر محیط + دستور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خروجی: </a:t>
            </a:r>
            <a:r>
              <a:rPr lang="fa-IR" sz="2800" b="1" dirty="0">
                <a:solidFill>
                  <a:prstClr val="black"/>
                </a:solidFill>
                <a:latin typeface="Aptos" panose="02110004020202020204"/>
                <a:cs typeface="B Nazanin" panose="00000400000000000000" pitchFamily="2" charset="-78"/>
              </a:rPr>
              <a:t>نقشه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 مرحله‌به‌مرحله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نگاشت به «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Action Pool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» محدود و امن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9BAB8-8D2C-B6DA-C93C-5DFC3A0EAADD}"/>
              </a:ext>
            </a:extLst>
          </p:cNvPr>
          <p:cNvSpPr txBox="1"/>
          <p:nvPr/>
        </p:nvSpPr>
        <p:spPr>
          <a:xfrm>
            <a:off x="1032165" y="5252783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Photos </a:t>
            </a: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ptos" panose="02110004020202020204"/>
              </a:rPr>
              <a:t>from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Report</a:t>
            </a:r>
          </a:p>
        </p:txBody>
      </p:sp>
      <p:pic>
        <p:nvPicPr>
          <p:cNvPr id="11" name="Picture 10" descr="A robot pouring fruit into a counter&#10;&#10;AI-generated content may be incorrect.">
            <a:extLst>
              <a:ext uri="{FF2B5EF4-FFF2-40B4-BE49-F238E27FC236}">
                <a16:creationId xmlns:a16="http://schemas.microsoft.com/office/drawing/2014/main" id="{8E0B1F35-7464-5FAD-4E20-2AC53DC16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44736" y="7178964"/>
            <a:ext cx="4078017" cy="3425536"/>
          </a:xfrm>
          <a:prstGeom prst="rect">
            <a:avLst/>
          </a:prstGeom>
        </p:spPr>
      </p:pic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3A5FC5D1-181D-D04D-3A39-D595C3B9C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5" y="1486539"/>
            <a:ext cx="4968586" cy="375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400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1682184" y="652090"/>
            <a:ext cx="8795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درک زبان و رفع ابهام: پایه تعامل اپراتور–ربات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2364289" y="1616364"/>
            <a:ext cx="879554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رفع ابهام: «چپ یا راست؟»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گفت‌وگوی اصلاحی به جای خطای خاموش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تفسیر دستور با توجه به وضعیت ربات (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stateful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)</a:t>
            </a:r>
          </a:p>
        </p:txBody>
      </p:sp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3A5FC5D1-181D-D04D-3A39-D595C3B9C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333360">
            <a:off x="-5781590" y="1551451"/>
            <a:ext cx="4968586" cy="3755097"/>
          </a:xfrm>
          <a:prstGeom prst="rect">
            <a:avLst/>
          </a:prstGeom>
        </p:spPr>
      </p:pic>
      <p:pic>
        <p:nvPicPr>
          <p:cNvPr id="4" name="Picture 3" descr="A group of yellow robots&#10;&#10;AI-generated content may be incorrect.">
            <a:extLst>
              <a:ext uri="{FF2B5EF4-FFF2-40B4-BE49-F238E27FC236}">
                <a16:creationId xmlns:a16="http://schemas.microsoft.com/office/drawing/2014/main" id="{63252BDC-8485-1E32-629A-6C4924C39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59443">
            <a:off x="-5660486" y="-1323649"/>
            <a:ext cx="3081405" cy="1812636"/>
          </a:xfrm>
          <a:prstGeom prst="rect">
            <a:avLst/>
          </a:prstGeom>
        </p:spPr>
      </p:pic>
      <p:pic>
        <p:nvPicPr>
          <p:cNvPr id="9" name="Picture 8" descr="A group of machines in different positions&#10;&#10;AI-generated content may be incorrect.">
            <a:extLst>
              <a:ext uri="{FF2B5EF4-FFF2-40B4-BE49-F238E27FC236}">
                <a16:creationId xmlns:a16="http://schemas.microsoft.com/office/drawing/2014/main" id="{909AE542-02F3-A9BB-475D-E79B507FD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569435">
            <a:off x="-3651328" y="7208690"/>
            <a:ext cx="2265430" cy="226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21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1682184" y="652090"/>
            <a:ext cx="8795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ربات فیزیکی در فولاد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3991429" y="1997391"/>
            <a:ext cx="7168407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بازرسی و کنترل کیفیت (سطح، ترک، پوسته اکسیدی)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جابجایی/برداشت در محیط‌های خطرناک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عیب‌یابی و نگهداری (راهنمای اپراتور + گزارش)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9BAB8-8D2C-B6DA-C93C-5DFC3A0EAADD}"/>
              </a:ext>
            </a:extLst>
          </p:cNvPr>
          <p:cNvSpPr txBox="1"/>
          <p:nvPr/>
        </p:nvSpPr>
        <p:spPr>
          <a:xfrm>
            <a:off x="1032164" y="5743412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Photos </a:t>
            </a: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ptos" panose="02110004020202020204"/>
              </a:rPr>
              <a:t>from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en-US" sz="9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ptos" panose="02110004020202020204"/>
              </a:rPr>
              <a:t>FreePik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group of machines in different positions&#10;&#10;AI-generated content may be incorrect.">
            <a:extLst>
              <a:ext uri="{FF2B5EF4-FFF2-40B4-BE49-F238E27FC236}">
                <a16:creationId xmlns:a16="http://schemas.microsoft.com/office/drawing/2014/main" id="{DA4E11E7-BCFD-D034-3265-24A18A2E9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2359">
            <a:off x="2724061" y="3480891"/>
            <a:ext cx="2265430" cy="2265430"/>
          </a:xfrm>
          <a:prstGeom prst="rect">
            <a:avLst/>
          </a:prstGeom>
        </p:spPr>
      </p:pic>
      <p:pic>
        <p:nvPicPr>
          <p:cNvPr id="9" name="Picture 8" descr="A group of yellow robots&#10;&#10;AI-generated content may be incorrect.">
            <a:extLst>
              <a:ext uri="{FF2B5EF4-FFF2-40B4-BE49-F238E27FC236}">
                <a16:creationId xmlns:a16="http://schemas.microsoft.com/office/drawing/2014/main" id="{86E87750-1E3F-2BBD-DE13-AC4F52A78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1363">
            <a:off x="533837" y="1995013"/>
            <a:ext cx="3081405" cy="1812636"/>
          </a:xfrm>
          <a:prstGeom prst="rect">
            <a:avLst/>
          </a:prstGeom>
        </p:spPr>
      </p:pic>
      <p:pic>
        <p:nvPicPr>
          <p:cNvPr id="10" name="Picture 9" descr="A diagram of a company&#10;&#10;AI-generated content may be incorrect.">
            <a:extLst>
              <a:ext uri="{FF2B5EF4-FFF2-40B4-BE49-F238E27FC236}">
                <a16:creationId xmlns:a16="http://schemas.microsoft.com/office/drawing/2014/main" id="{AFB53DCC-02C0-9745-7AA4-3EBD9A673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77542">
            <a:off x="8469745" y="-4612530"/>
            <a:ext cx="5380182" cy="309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19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1604619" y="654156"/>
            <a:ext cx="8982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معماری صنعتی: چندعامل برای کارخانه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4804229" y="1616365"/>
            <a:ext cx="6355607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عامل‌ها (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Agents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)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با نقش‌های جدا: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عامل فرآیند/کیفیت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عامل تجهیزات/نگهداری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عامل برنامه‌ریزی عملیات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تبادل پیام ساخت‌یافته + اتصال به داده‌های تولید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9BAB8-8D2C-B6DA-C93C-5DFC3A0EAADD}"/>
              </a:ext>
            </a:extLst>
          </p:cNvPr>
          <p:cNvSpPr txBox="1"/>
          <p:nvPr/>
        </p:nvSpPr>
        <p:spPr>
          <a:xfrm>
            <a:off x="1032164" y="4886182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Photos </a:t>
            </a: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ptos" panose="02110004020202020204"/>
              </a:rPr>
              <a:t>from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Report</a:t>
            </a:r>
          </a:p>
        </p:txBody>
      </p:sp>
      <p:pic>
        <p:nvPicPr>
          <p:cNvPr id="4" name="Picture 3" descr="A group of machines in different positions&#10;&#10;AI-generated content may be incorrect.">
            <a:extLst>
              <a:ext uri="{FF2B5EF4-FFF2-40B4-BE49-F238E27FC236}">
                <a16:creationId xmlns:a16="http://schemas.microsoft.com/office/drawing/2014/main" id="{DA4E11E7-BCFD-D034-3265-24A18A2E9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89772">
            <a:off x="-4385875" y="-659970"/>
            <a:ext cx="2265430" cy="2265430"/>
          </a:xfrm>
          <a:prstGeom prst="rect">
            <a:avLst/>
          </a:prstGeom>
        </p:spPr>
      </p:pic>
      <p:pic>
        <p:nvPicPr>
          <p:cNvPr id="9" name="Picture 8" descr="A group of yellow robots&#10;&#10;AI-generated content may be incorrect.">
            <a:extLst>
              <a:ext uri="{FF2B5EF4-FFF2-40B4-BE49-F238E27FC236}">
                <a16:creationId xmlns:a16="http://schemas.microsoft.com/office/drawing/2014/main" id="{86E87750-1E3F-2BBD-DE13-AC4F52A78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5524">
            <a:off x="-4793863" y="4952510"/>
            <a:ext cx="3081405" cy="1812636"/>
          </a:xfrm>
          <a:prstGeom prst="rect">
            <a:avLst/>
          </a:prstGeom>
        </p:spPr>
      </p:pic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EB84B038-05BE-20EA-7379-D2DAE9FD60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4" y="1793518"/>
            <a:ext cx="5380182" cy="3092664"/>
          </a:xfrm>
          <a:prstGeom prst="rect">
            <a:avLst/>
          </a:prstGeom>
        </p:spPr>
      </p:pic>
      <p:pic>
        <p:nvPicPr>
          <p:cNvPr id="10" name="Picture 9" descr="A diagram of a system&#10;&#10;AI-generated content may be incorrect.">
            <a:extLst>
              <a:ext uri="{FF2B5EF4-FFF2-40B4-BE49-F238E27FC236}">
                <a16:creationId xmlns:a16="http://schemas.microsoft.com/office/drawing/2014/main" id="{414CD800-6A95-B51C-8EDA-FA0E5413A8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45190" y="965749"/>
            <a:ext cx="3835324" cy="458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88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1404652" y="654156"/>
            <a:ext cx="9382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RAG</a:t>
            </a: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: وقتی مدل باید «دانش کارخانه شما» را بداند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4804229" y="1616365"/>
            <a:ext cx="6355607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مشکل: دانش مدل عمومی است و قدیمی/ناقص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راه‌حل: بازیابی از منابع داخلی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خروجی: پاسخ مستند و قابل ردیابی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9BAB8-8D2C-B6DA-C93C-5DFC3A0EAADD}"/>
              </a:ext>
            </a:extLst>
          </p:cNvPr>
          <p:cNvSpPr txBox="1"/>
          <p:nvPr/>
        </p:nvSpPr>
        <p:spPr>
          <a:xfrm>
            <a:off x="1032164" y="6196412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Photos </a:t>
            </a: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ptos" panose="02110004020202020204"/>
              </a:rPr>
              <a:t>from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Report</a:t>
            </a:r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EB84B038-05BE-20EA-7379-D2DAE9FD6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79417">
            <a:off x="-6401023" y="1616365"/>
            <a:ext cx="5380182" cy="3092664"/>
          </a:xfrm>
          <a:prstGeom prst="rect">
            <a:avLst/>
          </a:prstGeom>
        </p:spPr>
      </p:pic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ADA98AF0-4ABC-F097-6966-FB1E041D8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4" y="1616365"/>
            <a:ext cx="3835324" cy="458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221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1404652" y="654156"/>
            <a:ext cx="9382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چرا خروجی باید ساخت‌یافته باشد؟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4412343" y="1616365"/>
            <a:ext cx="6747493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متن آزاد = ریسک اجرای اشتباه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خروجی ساخت‌یافته = قابل اعتبارسنجی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اجرای نهایی توسط ماژول‌های مطمئن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(ROS/PLC/SDK)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9BAB8-8D2C-B6DA-C93C-5DFC3A0EAADD}"/>
              </a:ext>
            </a:extLst>
          </p:cNvPr>
          <p:cNvSpPr txBox="1"/>
          <p:nvPr/>
        </p:nvSpPr>
        <p:spPr>
          <a:xfrm>
            <a:off x="1032164" y="6196412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Photos </a:t>
            </a: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ptos" panose="02110004020202020204"/>
              </a:rPr>
              <a:t>from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Report</a:t>
            </a:r>
          </a:p>
        </p:txBody>
      </p:sp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ADA98AF0-4ABC-F097-6966-FB1E041D8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4" y="1616365"/>
            <a:ext cx="3835324" cy="458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423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1404652" y="654156"/>
            <a:ext cx="9382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ایمنی و قابلیت اطمینان: انسان در حلقه + فیلترها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4804229" y="1616365"/>
            <a:ext cx="635560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خطر: «توهم» و تصمیم نادرست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راهکارها: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محدودسازی عمل‌ها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اعتبارسنجی قوانین ایمنی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Human-in-the-loop</a:t>
            </a: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 در نقاط حساس</a:t>
            </a:r>
          </a:p>
        </p:txBody>
      </p:sp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ADA98AF0-4ABC-F097-6966-FB1E041D8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3750" y="1008099"/>
            <a:ext cx="3835324" cy="458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689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65963D-E14C-4C50-B9EA-35F5DD97B28E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1404652" y="654156"/>
            <a:ext cx="9382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ptos" panose="02110004020202020204"/>
                <a:ea typeface="+mn-ea"/>
                <a:cs typeface="B Titr" panose="00000700000000000000" pitchFamily="2" charset="-78"/>
              </a:rPr>
              <a:t>جمع‌بندی + نقشه راه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34495E"/>
              </a:solidFill>
              <a:effectLst/>
              <a:uLnTx/>
              <a:uFillTx/>
              <a:latin typeface="Aptos" panose="0211000402020202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1032165" y="1616365"/>
            <a:ext cx="1012767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LLM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 = لایه شناختی مکمل، نه جایگزین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PLC</a:t>
            </a:r>
            <a:endParaRPr kumimoji="0" lang="fa-IR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B Nazanin" panose="00000400000000000000" pitchFamily="2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معماری پیشنهادی: ماژولار +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RAG</a:t>
            </a: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 + خروجی ساخت‌یافته + نظارت</a:t>
            </a:r>
          </a:p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B Nazanin" panose="00000400000000000000" pitchFamily="2" charset="-78"/>
              </a:rPr>
              <a:t>مسیر توسعه: از تصمیم‌یار/بازرسی تا برنامه‌ریزی و هماهنگی چندربات</a:t>
            </a:r>
          </a:p>
        </p:txBody>
      </p:sp>
    </p:spTree>
    <p:extLst>
      <p:ext uri="{BB962C8B-B14F-4D97-AF65-F5344CB8AC3E}">
        <p14:creationId xmlns:p14="http://schemas.microsoft.com/office/powerpoint/2010/main" val="413028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523</Words>
  <Application>Microsoft Office PowerPoint</Application>
  <PresentationFormat>Widescreen</PresentationFormat>
  <Paragraphs>90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B Nazanin</vt:lpstr>
      <vt:lpstr>B Titr</vt:lpstr>
      <vt:lpstr>Times New Roman</vt:lpstr>
      <vt:lpstr>1_Office Theme</vt:lpstr>
      <vt:lpstr>استفاده از مدل‌های زبانی بزرگ در رباتیک ویژه صنعت فولاد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𝓜𝓸𝓱𝓪𝓶𝓪𝓭 𝓜 𝓐𝓼𝓪𝓭𝔂</dc:creator>
  <cp:lastModifiedBy>𝓜𝓸𝓱𝓪𝓶𝓪𝓭 𝓜 𝓐𝓼𝓪𝓭𝔂</cp:lastModifiedBy>
  <cp:revision>1</cp:revision>
  <dcterms:created xsi:type="dcterms:W3CDTF">2026-02-27T10:24:11Z</dcterms:created>
  <dcterms:modified xsi:type="dcterms:W3CDTF">2026-02-27T12:19:39Z</dcterms:modified>
</cp:coreProperties>
</file>